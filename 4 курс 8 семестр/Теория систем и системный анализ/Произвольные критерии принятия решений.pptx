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6" r:id="rId9"/>
    <p:sldId id="265" r:id="rId10"/>
    <p:sldId id="261" r:id="rId11"/>
    <p:sldId id="267" r:id="rId12"/>
    <p:sldId id="269" r:id="rId13"/>
    <p:sldId id="270" r:id="rId14"/>
    <p:sldId id="271" r:id="rId15"/>
    <p:sldId id="272" r:id="rId16"/>
    <p:sldId id="268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74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26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40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85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71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25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45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25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11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81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54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73F75-5BFC-4A54-9870-F60EBE4499D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0BA2547-4659-405C-8B47-940CBB6899CF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99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88093-12E6-4C13-B364-F02B57384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Произвольные критерии принятия решений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DB9DDA-0828-4F82-8899-F4E8D2C042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25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9516A-5F9F-4A11-B9A9-92145E50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Условия принятия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A84D0-B084-4C26-957C-2E0733B2D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277089" cy="3450613"/>
          </a:xfrm>
        </p:spPr>
        <p:txBody>
          <a:bodyPr/>
          <a:lstStyle/>
          <a:p>
            <a:r>
              <a:rPr lang="ru-RU" dirty="0"/>
              <a:t>Определенность: известны все параметры и исходы</a:t>
            </a:r>
          </a:p>
          <a:p>
            <a:endParaRPr lang="ru-RU" dirty="0"/>
          </a:p>
          <a:p>
            <a:r>
              <a:rPr lang="ru-RU" dirty="0"/>
              <a:t>Риск: известны вероятности исходов</a:t>
            </a:r>
          </a:p>
          <a:p>
            <a:endParaRPr lang="ru-RU" dirty="0"/>
          </a:p>
          <a:p>
            <a:r>
              <a:rPr lang="ru-RU" dirty="0"/>
              <a:t>Неопределенность: вероятности исходов неизвестны</a:t>
            </a:r>
          </a:p>
        </p:txBody>
      </p:sp>
      <p:pic>
        <p:nvPicPr>
          <p:cNvPr id="1026" name="Picture 2" descr="Детерминированные конечные автоматы — Викиконспекты">
            <a:extLst>
              <a:ext uri="{FF2B5EF4-FFF2-40B4-BE49-F238E27FC236}">
                <a16:creationId xmlns:a16="http://schemas.microsoft.com/office/drawing/2014/main" id="{2F904453-F02F-4D5D-8B96-5A0CE5570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408" y="1119809"/>
            <a:ext cx="1658841" cy="125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арковская цепь — Викиконспекты">
            <a:extLst>
              <a:ext uri="{FF2B5EF4-FFF2-40B4-BE49-F238E27FC236}">
                <a16:creationId xmlns:a16="http://schemas.microsoft.com/office/drawing/2014/main" id="{23FDAD25-E275-415A-9E12-BC358CB95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719" y="2767012"/>
            <a:ext cx="3690565" cy="102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Автоматы Мура и Мили — Викиконспекты">
            <a:extLst>
              <a:ext uri="{FF2B5EF4-FFF2-40B4-BE49-F238E27FC236}">
                <a16:creationId xmlns:a16="http://schemas.microsoft.com/office/drawing/2014/main" id="{3145C18D-BF2D-4BCF-A5F5-D00F615DA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844" y="4054385"/>
            <a:ext cx="2185012" cy="130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53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0F9A0-66DE-4AEF-9B6F-CABFEEFF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производные критерии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CCB91C-975F-46B4-A955-7EFA0B82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Критерий Вальда (</a:t>
            </a:r>
            <a:r>
              <a:rPr lang="ru-RU" dirty="0" err="1"/>
              <a:t>Maximin</a:t>
            </a:r>
            <a:r>
              <a:rPr lang="ru-RU" dirty="0"/>
              <a:t>) — критерий крайнего пессимизма.</a:t>
            </a:r>
          </a:p>
          <a:p>
            <a:r>
              <a:rPr lang="ru-RU" dirty="0"/>
              <a:t>Критерий </a:t>
            </a:r>
            <a:r>
              <a:rPr lang="ru-RU" dirty="0" err="1"/>
              <a:t>Сэвиджа</a:t>
            </a:r>
            <a:r>
              <a:rPr lang="ru-RU" dirty="0"/>
              <a:t> (</a:t>
            </a:r>
            <a:r>
              <a:rPr lang="ru-RU" dirty="0" err="1"/>
              <a:t>Minimax</a:t>
            </a:r>
            <a:r>
              <a:rPr lang="ru-RU" dirty="0"/>
              <a:t> </a:t>
            </a:r>
            <a:r>
              <a:rPr lang="ru-RU" dirty="0" err="1"/>
              <a:t>Regret</a:t>
            </a:r>
            <a:r>
              <a:rPr lang="ru-RU" dirty="0"/>
              <a:t>) — минимизация упущенной выгоды.</a:t>
            </a:r>
          </a:p>
          <a:p>
            <a:r>
              <a:rPr lang="ru-RU" dirty="0"/>
              <a:t>Критерий Гурвица — взвешенный оптимизм-пессимизм.</a:t>
            </a:r>
          </a:p>
          <a:p>
            <a:r>
              <a:rPr lang="ru-RU" dirty="0"/>
              <a:t>Критерий Лапласа — принцип недостаточного основания (</a:t>
            </a:r>
            <a:r>
              <a:rPr lang="ru-RU" dirty="0" err="1"/>
              <a:t>равновероятность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552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0DA2D-FEF1-49AC-AF3C-86AA32EA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Базис критериев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89546-A8D5-43A2-B793-D7EEE9ADC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Психология ЛПР (Лица, Принимающего Решения): Степень склонности к риску.</a:t>
            </a:r>
          </a:p>
          <a:p>
            <a:r>
              <a:rPr lang="ru-RU" dirty="0"/>
              <a:t>Математическая модель: Платежная матрица (Стратегии × Состояния среды).</a:t>
            </a:r>
          </a:p>
          <a:p>
            <a:r>
              <a:rPr lang="ru-RU" dirty="0"/>
              <a:t>Функция полезности: Максимизация прибыли или минимизация потерь.</a:t>
            </a:r>
          </a:p>
          <a:p>
            <a:r>
              <a:rPr lang="ru-RU" dirty="0"/>
              <a:t>Отсутствие статистики: Невозможность использования теории вероятности.</a:t>
            </a:r>
          </a:p>
        </p:txBody>
      </p:sp>
    </p:spTree>
    <p:extLst>
      <p:ext uri="{BB962C8B-B14F-4D97-AF65-F5344CB8AC3E}">
        <p14:creationId xmlns:p14="http://schemas.microsoft.com/office/powerpoint/2010/main" val="130088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0702D-352D-4403-BBC7-1EFE4BF3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</a:t>
            </a:r>
            <a:r>
              <a:rPr lang="ru-RU" dirty="0" err="1"/>
              <a:t>вальда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94406384"/>
                  </p:ext>
                </p:extLst>
              </p:nvPr>
            </p:nvGraphicFramePr>
            <p:xfrm>
              <a:off x="691762" y="1403874"/>
              <a:ext cx="10829678" cy="45209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Выбирается стратегия, которая даёт наилучший результат в наихудших условиях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𝑤𝑎𝑙𝑑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𝑎𝑟𝑔𝑚𝑖𝑛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𝑚𝑎𝑥𝐿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где </m:t>
                                </m:r>
                                <m:sSub>
                                  <m:sSubPr>
                                    <m:ctrlP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стратегии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𝜗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(состояния)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85024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Системы безопасности, аварийное планирование, критическая инфраструктура, военные операции.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Гарантирует «пол» потерь/прибыли, не требует знания вероятностей, прост в вычислениях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Игнорирует потенциально высокую прибыль, может привести к излишне консервативным решениям, не учитывает «среднюю» ситуацию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Крайний пессимист, параноик, ответственный за безопасность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94406384"/>
                  </p:ext>
                </p:extLst>
              </p:nvPr>
            </p:nvGraphicFramePr>
            <p:xfrm>
              <a:off x="691762" y="1403874"/>
              <a:ext cx="10829678" cy="45209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Выбирается стратегия, которая даёт наилучший результат в наихудших условиях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675386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225" t="-154054" r="-563" b="-4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5024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Системы безопасности, аварийное планирование, критическая инфраструктура, военные операции.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Гарантирует «пол» потерь/прибыли, не требует знания вероятностей, прост в вычислениях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Игнорирует потенциально высокую прибыль, может привести к излишне консервативным решениям, не учитывает «среднюю» ситуацию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Крайний пессимист, параноик, ответственный за безопасность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763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0702D-352D-4403-BBC7-1EFE4BF3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</a:t>
            </a:r>
            <a:r>
              <a:rPr lang="ru-RU" dirty="0" err="1"/>
              <a:t>Сэвиджа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52569531"/>
                  </p:ext>
                </p:extLst>
              </p:nvPr>
            </p:nvGraphicFramePr>
            <p:xfrm>
              <a:off x="691762" y="1403874"/>
              <a:ext cx="10829678" cy="45326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Минимизируется максимальное сожаление (упущенная выгода) от того, что был выбран не оптимальный для данной ситуации вариант.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𝑠𝑎𝑣𝑎𝑔𝑒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𝑎𝑟𝑔𝑚𝑖𝑛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𝑚𝑎𝑥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𝑘𝑗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где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1&lt;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𝜗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1&lt;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85024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Финансовые инвестиции, маркетинговые стратегии, конкурентная борьба.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Учитывает альтернативные издержки, Более сбалансирован, Ориентирован на относительные</a:t>
                          </a:r>
                          <a:r>
                            <a:rPr lang="en-US" dirty="0"/>
                            <a:t> </a:t>
                          </a:r>
                          <a:r>
                            <a:rPr lang="ru-RU" dirty="0"/>
                            <a:t>потери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Требует построения платежной матрицы, Результаты могут быть </a:t>
                          </a:r>
                          <a:r>
                            <a:rPr lang="ru-RU" dirty="0" err="1"/>
                            <a:t>неинтуитивны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Осторожный стратег, думающий на шаг вперёд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52569531"/>
                  </p:ext>
                </p:extLst>
              </p:nvPr>
            </p:nvGraphicFramePr>
            <p:xfrm>
              <a:off x="691762" y="1403874"/>
              <a:ext cx="10829678" cy="45326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Минимизируется максимальное сожаление (упущенная выгода) от того, что был выбран не оптимальный для данной ситуации вариант.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68199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225" t="-192857" r="-563" b="-38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5024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Финансовые инвестиции, маркетинговые стратегии, конкурентная борьба.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Учитывает альтернативные издержки, Более сбалансирован, Ориентирован на относительные</a:t>
                          </a:r>
                          <a:r>
                            <a:rPr lang="en-US" dirty="0"/>
                            <a:t> </a:t>
                          </a:r>
                          <a:r>
                            <a:rPr lang="ru-RU" dirty="0"/>
                            <a:t>потери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Требует построения платежной матрицы, Результаты могут быть </a:t>
                          </a:r>
                          <a:r>
                            <a:rPr lang="ru-RU" dirty="0" err="1"/>
                            <a:t>неинтуитивны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Осторожный стратег, думающий на шаг вперёд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0400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0702D-352D-4403-BBC7-1EFE4BF35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774" y="354639"/>
            <a:ext cx="9603275" cy="1049235"/>
          </a:xfrm>
        </p:spPr>
        <p:txBody>
          <a:bodyPr/>
          <a:lstStyle/>
          <a:p>
            <a:r>
              <a:rPr lang="ru-RU" dirty="0"/>
              <a:t>Критерий Гурвица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4503478"/>
                  </p:ext>
                </p:extLst>
              </p:nvPr>
            </p:nvGraphicFramePr>
            <p:xfrm>
              <a:off x="681161" y="1173286"/>
              <a:ext cx="10829678" cy="4782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Линейная комбинация лучшего и худшего исходов с весовым коэффициентом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𝑔𝑢𝑟𝑣𝑖𝑐𝑒</m:t>
                                  </m:r>
                                </m:sub>
                              </m:s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=1..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dirty="0"/>
                            <a:t>,</a:t>
                          </a:r>
                          <a:r>
                            <a:rPr lang="ru-RU" dirty="0"/>
                            <a:t> где </a:t>
                          </a:r>
                          <a:r>
                            <a:rPr lang="en-US" dirty="0"/>
                            <a:t>n</a:t>
                          </a:r>
                          <a:r>
                            <a:rPr lang="ru-RU" baseline="0" dirty="0"/>
                            <a:t> – количество стратегий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89954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Управление проектами, выбор технологий, стратегическое планирование с гибкой политикой риска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Гибкость: можно «настроить» под аппетит к риску компании, Учитывает как потенциал, так и риски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Субъективность выбора, Игнорирует все промежуточные значения, Вырождается в Вальда или крайний оптимизм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Реалист с известной степенью оптимизма пессимизма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4503478"/>
                  </p:ext>
                </p:extLst>
              </p:nvPr>
            </p:nvGraphicFramePr>
            <p:xfrm>
              <a:off x="681161" y="1173286"/>
              <a:ext cx="10829678" cy="4782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Линейная комбинация лучшего и худшего исходов с весовым коэффициентом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662432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112" t="-156881" r="-450" b="-4825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9954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Управление проектами, выбор технологий, стратегическое планирование с гибкой политикой риска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Гибкость: можно «настроить» под аппетит к риску компании, Учитывает как потенциал, так и риски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Субъективность выбора, Игнорирует все промежуточные значения, Вырождается в Вальда или крайний оптимизм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Реалист с известной степенью оптимизма пессимизма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0366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6821D-A5C4-436A-8698-5BE1BFDF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</a:t>
            </a:r>
            <a:r>
              <a:rPr lang="ru-RU" dirty="0" err="1"/>
              <a:t>гурвица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064B5A0-EBBE-463F-A689-722A4EF74F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7004591" cy="345061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u-RU" dirty="0"/>
                  <a:t>Составляется из коэффициентов характеристического уравнения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 </m:t>
                    </m:r>
                  </m:oMath>
                </a14:m>
                <a:r>
                  <a:rPr lang="ru-RU" dirty="0"/>
                  <a:t>По главной диагонали слева направо выставляются все коэффициенты характеристического уравнения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до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. Индексы выше диагонали должны возрастать, ниже – убывать. Вместо коэффициентов, у которых индексы вышли за границы 0..</a:t>
                </a:r>
                <a:r>
                  <a:rPr lang="en-US" dirty="0"/>
                  <a:t>n, </a:t>
                </a:r>
                <a:r>
                  <a:rPr lang="ru-RU" dirty="0"/>
                  <a:t>ставится 0. Условия устойчивости: все коэффициенты должны быть положительны, все определители Гурвица от 1 до </a:t>
                </a:r>
                <a:r>
                  <a:rPr lang="en-US" dirty="0"/>
                  <a:t>n</a:t>
                </a:r>
                <a:r>
                  <a:rPr lang="ru-RU" dirty="0"/>
                  <a:t> должны быть положительны.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064B5A0-EBBE-463F-A689-722A4EF74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7004591" cy="3450613"/>
              </a:xfrm>
              <a:blipFill>
                <a:blip r:embed="rId2"/>
                <a:stretch>
                  <a:fillRect l="-870" r="-957" b="-5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8.2.2. Критерий Гурвица">
            <a:extLst>
              <a:ext uri="{FF2B5EF4-FFF2-40B4-BE49-F238E27FC236}">
                <a16:creationId xmlns:a16="http://schemas.microsoft.com/office/drawing/2014/main" id="{353113E7-66E4-4BD9-8851-E2757CCF4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171" y="2595562"/>
            <a:ext cx="2891292" cy="231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797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0702D-352D-4403-BBC7-1EFE4BF3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Лапласа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09929421"/>
                  </p:ext>
                </p:extLst>
              </p:nvPr>
            </p:nvGraphicFramePr>
            <p:xfrm>
              <a:off x="691762" y="1403874"/>
              <a:ext cx="10829678" cy="43308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Все состояния среды считаются равновероятными, если вероятности неизвестны; выбирается стратегия с максимальной средней прибылью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func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где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−число со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стояний,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−число ст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ратегий</m:t>
                              </m:r>
                            </m:oMath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85024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Стартапы, научные исследования, ситуации с полным отсутствием исторических данных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Использует всю доступную информацию из матрицы, Прост в реализации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Наивное допущение, Может дать ошибочный результат при скрытой асимметрии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Рационалист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6257635C-9BB9-4174-B25F-4893D8D9471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09929421"/>
                  </p:ext>
                </p:extLst>
              </p:nvPr>
            </p:nvGraphicFramePr>
            <p:xfrm>
              <a:off x="691762" y="1403874"/>
              <a:ext cx="10829678" cy="43308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4839">
                      <a:extLst>
                        <a:ext uri="{9D8B030D-6E8A-4147-A177-3AD203B41FA5}">
                          <a16:colId xmlns:a16="http://schemas.microsoft.com/office/drawing/2014/main" val="1598346495"/>
                        </a:ext>
                      </a:extLst>
                    </a:gridCol>
                    <a:gridCol w="5414839">
                      <a:extLst>
                        <a:ext uri="{9D8B030D-6E8A-4147-A177-3AD203B41FA5}">
                          <a16:colId xmlns:a16="http://schemas.microsoft.com/office/drawing/2014/main" val="23527926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Описание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57126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Суть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Все состояния среды считаются равновероятными, если вероятности неизвестны; выбирается стратегия с максимальной средней прибылью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2440738"/>
                      </a:ext>
                    </a:extLst>
                  </a:tr>
                  <a:tr h="754571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Формула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225" t="-174194" r="-563" b="-315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5024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Область применения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Стартапы, научные исследования, ситуации с полным отсутствием исторических данных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34463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Преимущества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Использует всю доступную информацию из матрицы, Прост в реализации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70738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Недостатки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Наивное допущение, Может дать ошибочный результат при скрытой асимметрии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923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Психотип ЛПР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Рационалист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59069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25527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CC475-C52F-4730-B917-2DC53082A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149BF8-4152-4997-8B48-A7FDA65F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4132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Задача: Компания выбирает стратегию развития (</a:t>
            </a:r>
            <a:r>
              <a:rPr lang="en-US" dirty="0"/>
              <a:t>A1, A2, A3)</a:t>
            </a:r>
          </a:p>
          <a:p>
            <a:pPr marL="0" indent="0">
              <a:buNone/>
            </a:pPr>
            <a:r>
              <a:rPr lang="ru-RU" dirty="0"/>
              <a:t>Состояния рынка: Спад,</a:t>
            </a:r>
            <a:r>
              <a:rPr lang="en-US" dirty="0"/>
              <a:t> </a:t>
            </a:r>
            <a:r>
              <a:rPr lang="ru-RU" dirty="0"/>
              <a:t>Стабильность, Подъем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Платежная матрица (Прибыль в млн руб.)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6CE434B-2735-4F90-9FE1-E02644922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104614"/>
              </p:ext>
            </p:extLst>
          </p:nvPr>
        </p:nvGraphicFramePr>
        <p:xfrm>
          <a:off x="1523117" y="3590980"/>
          <a:ext cx="81280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085425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82742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87826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9152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Стратегия \ Состояние рынка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Стабильность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Подъем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9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Консервативная (</a:t>
                      </a:r>
                      <a:r>
                        <a:rPr lang="en-US" dirty="0"/>
                        <a:t>A1)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88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Умеренная (</a:t>
                      </a:r>
                      <a:r>
                        <a:rPr lang="en-US" dirty="0"/>
                        <a:t>A2)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38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Агрессивная (</a:t>
                      </a:r>
                      <a:r>
                        <a:rPr lang="en-US" dirty="0"/>
                        <a:t>A3)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09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095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BD6B6-F3CB-49C8-AFD7-5B8B0C53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по </a:t>
            </a:r>
            <a:r>
              <a:rPr lang="ru-RU" dirty="0" err="1"/>
              <a:t>вальду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DA6E378-1BF9-430D-8D87-01ED5F92B9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Находим минимальный выигрыш для каждой стратегии: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⁡(10,5,2)=2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9,4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Затем выберем стратегию с максимальным выигрышем: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𝑤𝑎𝑙𝑑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Выбираем стратегию </a:t>
                </a:r>
                <a:r>
                  <a:rPr lang="en-US" dirty="0"/>
                  <a:t>A2</a:t>
                </a:r>
                <a:r>
                  <a:rPr lang="ru-RU" dirty="0"/>
                  <a:t>, так как она дает наибольшую прибыль из худших сценариев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DA6E378-1BF9-430D-8D87-01ED5F92B9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177" r="-5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9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DF0E5-E20A-40D9-AF22-92DD9BA7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по </a:t>
            </a:r>
            <a:r>
              <a:rPr lang="ru-RU" dirty="0" err="1"/>
              <a:t>Сэвиджу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D2ECD6-212C-4B48-BFDF-B5A5E52F8D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399430"/>
                <a:ext cx="9603275" cy="20295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Находим максимум для каждого состояния: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⁡(10,5,2)=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9,4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6,12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Строим матрицу сожалений: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D2ECD6-212C-4B48-BFDF-B5A5E52F8D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399430"/>
                <a:ext cx="9603275" cy="2029570"/>
              </a:xfrm>
              <a:blipFill>
                <a:blip r:embed="rId2"/>
                <a:stretch>
                  <a:fillRect l="-635" t="-300" b="-5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164D6EB-06B0-49A8-9008-8BB8E7E50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28227"/>
              </p:ext>
            </p:extLst>
          </p:nvPr>
        </p:nvGraphicFramePr>
        <p:xfrm>
          <a:off x="1523117" y="3590980"/>
          <a:ext cx="81280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085425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82742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87826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9152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Стратегия \ Состояние рынка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Стабильность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Подъем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9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Консервативная (</a:t>
                      </a:r>
                      <a:r>
                        <a:rPr lang="en-US" dirty="0"/>
                        <a:t>A1)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10-10=0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9-</a:t>
                      </a:r>
                      <a:r>
                        <a:rPr lang="en-US" dirty="0"/>
                        <a:t>5</a:t>
                      </a:r>
                      <a:r>
                        <a:rPr lang="ru-RU" dirty="0"/>
                        <a:t>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12-2=10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88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Умеренная (</a:t>
                      </a:r>
                      <a:r>
                        <a:rPr lang="en-US" dirty="0"/>
                        <a:t>A2)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10-8=2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9-9=0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12-4=8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38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Агрессивная (</a:t>
                      </a:r>
                      <a:r>
                        <a:rPr lang="en-US" dirty="0"/>
                        <a:t>A3)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10-3=7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9-6=3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r>
                        <a:rPr lang="ru-RU" dirty="0"/>
                        <a:t>-12=0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09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09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28143-80A1-470E-B5EC-22903788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Продолжение решения по </a:t>
            </a:r>
            <a:r>
              <a:rPr lang="ru-RU" dirty="0" err="1"/>
              <a:t>сэвиджу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6BD05A5-C6DE-47DC-B15E-0C5EF75FB5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ru-RU" dirty="0"/>
                  <a:t>Находим максимальное сожаление для каждой стратегии: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0,4,10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2,0,8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7,3,0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ru-RU" dirty="0"/>
                  <a:t>Выбираем стратегию с минимальным из максимальных сожалений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𝑠𝑎𝑣𝑎𝑔𝑒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Если выбрать , то в худшем случае мы «пожалеем» лишь на 7 млн руб. </a:t>
                </a:r>
                <a:r>
                  <a:rPr lang="en-US" dirty="0"/>
                  <a:t>–</a:t>
                </a:r>
                <a:r>
                  <a:rPr lang="ru-RU" dirty="0"/>
                  <a:t> это наименьшая возможная упущенная выгода среди всех стратегий. Выбираем </a:t>
                </a:r>
                <a:r>
                  <a:rPr lang="en-US" dirty="0"/>
                  <a:t>A3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6BD05A5-C6DE-47DC-B15E-0C5EF75FB5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177" r="-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883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EBB44-B17B-4D68-87BE-A02063D2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по </a:t>
            </a:r>
            <a:r>
              <a:rPr lang="ru-RU" dirty="0" err="1"/>
              <a:t>гурвицу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DC2B1D-66C9-4B1C-A5D3-AB86286C7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56844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Найдем минимальную и максимальную прибыль для каждой стратегии: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0D9D40B7-7B5D-46D2-B990-7994F51F8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659"/>
              </p:ext>
            </p:extLst>
          </p:nvPr>
        </p:nvGraphicFramePr>
        <p:xfrm>
          <a:off x="1451579" y="2584175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991253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762623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00010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Стратегия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Мин.прибыль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Макс.прибыль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18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Консервативная (</a:t>
                      </a:r>
                      <a:r>
                        <a:rPr lang="en-US" dirty="0"/>
                        <a:t>A1)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6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Умеренная (</a:t>
                      </a:r>
                      <a:r>
                        <a:rPr lang="en-US" dirty="0"/>
                        <a:t>A2)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10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Агрессивная (</a:t>
                      </a:r>
                      <a:r>
                        <a:rPr lang="en-US" dirty="0"/>
                        <a:t>A3)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7346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717DB7-62AB-4A1C-8D54-38FD58BB2FC3}"/>
              </a:ext>
            </a:extLst>
          </p:cNvPr>
          <p:cNvSpPr txBox="1"/>
          <p:nvPr/>
        </p:nvSpPr>
        <p:spPr>
          <a:xfrm>
            <a:off x="1451579" y="4273826"/>
            <a:ext cx="921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Задаём коэффициент оптимизма (60% оптимизма, 40% пессимизма)</a:t>
            </a:r>
          </a:p>
        </p:txBody>
      </p:sp>
    </p:spTree>
    <p:extLst>
      <p:ext uri="{BB962C8B-B14F-4D97-AF65-F5344CB8AC3E}">
        <p14:creationId xmlns:p14="http://schemas.microsoft.com/office/powerpoint/2010/main" val="4078337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85134-02AE-467F-A9B4-CB1682D2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Продолжение решения по </a:t>
            </a:r>
            <a:r>
              <a:rPr lang="ru-RU" dirty="0" err="1"/>
              <a:t>гурвицу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FE1728-DB65-47E8-BB90-743B8332C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Считаем взвешенную сумму лучшего и худшего исхода</a:t>
                </a:r>
                <a:r>
                  <a:rPr lang="en-US" dirty="0"/>
                  <a:t> </a:t>
                </a:r>
                <a:r>
                  <a:rPr lang="ru-RU" dirty="0"/>
                  <a:t>каждой стратегии: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=0.6∗10+0.4∗2=6+0.8=6.8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=0.6∗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+0.4∗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1.6=7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=0.6∗1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+0.4∗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7.2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8.4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Выбираем максимальную сумму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𝑔𝑢𝑟𝑣𝑖𝑐𝑒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8.4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Наибольшую прибыль мы получим благодаря стратегии </a:t>
                </a:r>
                <a:r>
                  <a:rPr lang="en-US" dirty="0"/>
                  <a:t>A3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FE1728-DB65-47E8-BB90-743B8332C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1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143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5E56C-1F55-4E56-961A-902221E1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по </a:t>
            </a:r>
            <a:r>
              <a:rPr lang="ru-RU" dirty="0" err="1"/>
              <a:t>лапласу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FD5C11E-3941-458B-B3F6-5AF2AD6ED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Считаем среднее арифметическое для каждой стратегии: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10+5+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=5.67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8+9+4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+6+12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Находим максимальное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𝑙𝑎𝑝𝑙𝑎𝑐𝑒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Максимальное значение 7, этому значению удовлетворяет как стратегия </a:t>
                </a:r>
                <a:r>
                  <a:rPr lang="en-US" dirty="0"/>
                  <a:t>A2, </a:t>
                </a:r>
                <a:r>
                  <a:rPr lang="ru-RU" dirty="0"/>
                  <a:t>так и </a:t>
                </a:r>
                <a:r>
                  <a:rPr lang="en-US" dirty="0"/>
                  <a:t>A3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FD5C11E-3941-458B-B3F6-5AF2AD6ED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883" b="-2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09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798D8-6934-44E0-A7C4-FBA76ABC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Сводная таблица результатов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3201E9A-1151-4F91-BD52-703805C671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49439"/>
              </p:ext>
            </p:extLst>
          </p:nvPr>
        </p:nvGraphicFramePr>
        <p:xfrm>
          <a:off x="1451579" y="2016125"/>
          <a:ext cx="960377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826">
                  <a:extLst>
                    <a:ext uri="{9D8B030D-6E8A-4147-A177-3AD203B41FA5}">
                      <a16:colId xmlns:a16="http://schemas.microsoft.com/office/drawing/2014/main" val="4226416157"/>
                    </a:ext>
                  </a:extLst>
                </a:gridCol>
                <a:gridCol w="1663683">
                  <a:extLst>
                    <a:ext uri="{9D8B030D-6E8A-4147-A177-3AD203B41FA5}">
                      <a16:colId xmlns:a16="http://schemas.microsoft.com/office/drawing/2014/main" val="2445462275"/>
                    </a:ext>
                  </a:extLst>
                </a:gridCol>
                <a:gridCol w="1920754">
                  <a:extLst>
                    <a:ext uri="{9D8B030D-6E8A-4147-A177-3AD203B41FA5}">
                      <a16:colId xmlns:a16="http://schemas.microsoft.com/office/drawing/2014/main" val="1183880602"/>
                    </a:ext>
                  </a:extLst>
                </a:gridCol>
                <a:gridCol w="1920754">
                  <a:extLst>
                    <a:ext uri="{9D8B030D-6E8A-4147-A177-3AD203B41FA5}">
                      <a16:colId xmlns:a16="http://schemas.microsoft.com/office/drawing/2014/main" val="1272444577"/>
                    </a:ext>
                  </a:extLst>
                </a:gridCol>
                <a:gridCol w="1920754">
                  <a:extLst>
                    <a:ext uri="{9D8B030D-6E8A-4147-A177-3AD203B41FA5}">
                      <a16:colId xmlns:a16="http://schemas.microsoft.com/office/drawing/2014/main" val="1206671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Вальда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Сэвиджа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Гурвица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Лапласа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306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Стратегия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A2, A3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2470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D1E08B-8FBA-4D14-9B26-29001593C8D5}"/>
              </a:ext>
            </a:extLst>
          </p:cNvPr>
          <p:cNvSpPr txBox="1"/>
          <p:nvPr/>
        </p:nvSpPr>
        <p:spPr>
          <a:xfrm>
            <a:off x="1451084" y="3250297"/>
            <a:ext cx="96037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Как мы видим, результаты различаются. Итоговый выбор может различаться в зависимости от ЛПР, либо можно выбирать методом голосования среди критериев: побеждает стратегия набравшая наибольшее количество голосов, в данном случае – </a:t>
            </a:r>
            <a:r>
              <a:rPr lang="en-US" dirty="0"/>
              <a:t>A3</a:t>
            </a:r>
            <a:r>
              <a:rPr lang="ru-RU" dirty="0"/>
              <a:t>, агрессивная стратегия</a:t>
            </a:r>
          </a:p>
        </p:txBody>
      </p:sp>
    </p:spTree>
    <p:extLst>
      <p:ext uri="{BB962C8B-B14F-4D97-AF65-F5344CB8AC3E}">
        <p14:creationId xmlns:p14="http://schemas.microsoft.com/office/powerpoint/2010/main" val="2949655121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125</TotalTime>
  <Words>983</Words>
  <Application>Microsoft Office PowerPoint</Application>
  <PresentationFormat>Широкоэкранный</PresentationFormat>
  <Paragraphs>178</Paragraphs>
  <Slides>17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Gill Sans MT</vt:lpstr>
      <vt:lpstr>Галерея</vt:lpstr>
      <vt:lpstr>Произвольные критерии принятия решений</vt:lpstr>
      <vt:lpstr>Условия принятия решений</vt:lpstr>
      <vt:lpstr>Основные производные критерии</vt:lpstr>
      <vt:lpstr>Базис критериев</vt:lpstr>
      <vt:lpstr>Критерий вальда</vt:lpstr>
      <vt:lpstr>Критерий Сэвиджа</vt:lpstr>
      <vt:lpstr>Критерий Гурвица</vt:lpstr>
      <vt:lpstr>Матрица гурвица</vt:lpstr>
      <vt:lpstr>Критерий Лапласа</vt:lpstr>
      <vt:lpstr>Практическая задача</vt:lpstr>
      <vt:lpstr>Решение по вальду</vt:lpstr>
      <vt:lpstr>Решение по Сэвиджу</vt:lpstr>
      <vt:lpstr>Продолжение решения по сэвиджу</vt:lpstr>
      <vt:lpstr>Решение по гурвицу</vt:lpstr>
      <vt:lpstr>Продолжение решения по гурвицу</vt:lpstr>
      <vt:lpstr>Решение по лапласу</vt:lpstr>
      <vt:lpstr>Сводная таблица результатов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Произвольные критерии принятия решений</dc:title>
  <dc:creator>Степан Чернов</dc:creator>
  <cp:lastModifiedBy>Степан Чернов</cp:lastModifiedBy>
  <cp:revision>14</cp:revision>
  <dcterms:created xsi:type="dcterms:W3CDTF">2026-03-24T15:12:34Z</dcterms:created>
  <dcterms:modified xsi:type="dcterms:W3CDTF">2026-03-24T17:17:44Z</dcterms:modified>
</cp:coreProperties>
</file>