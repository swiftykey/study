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6" r:id="rId6"/>
    <p:sldId id="267" r:id="rId7"/>
    <p:sldId id="259" r:id="rId8"/>
    <p:sldId id="269" r:id="rId9"/>
    <p:sldId id="263" r:id="rId10"/>
    <p:sldId id="270" r:id="rId11"/>
    <p:sldId id="268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1501237-49FA-46BE-9D30-E9E88C907B85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708AD6-068B-4BFD-8CD0-9BA7BB686F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461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1237-49FA-46BE-9D30-E9E88C907B85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5708AD6-068B-4BFD-8CD0-9BA7BB686F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503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1501237-49FA-46BE-9D30-E9E88C907B85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708AD6-068B-4BFD-8CD0-9BA7BB686F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274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1237-49FA-46BE-9D30-E9E88C907B85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8AD6-068B-4BFD-8CD0-9BA7BB686F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1854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1237-49FA-46BE-9D30-E9E88C907B85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8AD6-068B-4BFD-8CD0-9BA7BB686F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99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1237-49FA-46BE-9D30-E9E88C907B85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8AD6-068B-4BFD-8CD0-9BA7BB686F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245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1237-49FA-46BE-9D30-E9E88C907B85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8AD6-068B-4BFD-8CD0-9BA7BB686F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12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1501237-49FA-46BE-9D30-E9E88C907B85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708AD6-068B-4BFD-8CD0-9BA7BB686F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2591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1237-49FA-46BE-9D30-E9E88C907B85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8AD6-068B-4BFD-8CD0-9BA7BB686F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3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01237-49FA-46BE-9D30-E9E88C907B85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08AD6-068B-4BFD-8CD0-9BA7BB686F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013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1501237-49FA-46BE-9D30-E9E88C907B85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708AD6-068B-4BFD-8CD0-9BA7BB686F5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7089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1501237-49FA-46BE-9D30-E9E88C907B85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5708AD6-068B-4BFD-8CD0-9BA7BB686F51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2811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543864-B509-4FD9-A112-25833ADB5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5" y="538292"/>
            <a:ext cx="10993549" cy="2578980"/>
          </a:xfrm>
        </p:spPr>
        <p:txBody>
          <a:bodyPr>
            <a:normAutofit/>
          </a:bodyPr>
          <a:lstStyle/>
          <a:p>
            <a:pPr algn="ctr"/>
            <a:r>
              <a:rPr lang="ru-RU" sz="2400" dirty="0"/>
              <a:t>МИНИСТЕРСТВО НАУКИ И ВЫСШЕГО ОБРАЗОВАНИЯ РОССИЙСКОЙ ФЕДЕРАЦИИ</a:t>
            </a:r>
            <a:br>
              <a:rPr lang="ru-RU" sz="2400" dirty="0"/>
            </a:br>
            <a:r>
              <a:rPr lang="ru-RU" sz="2400" dirty="0"/>
              <a:t>федеральное государственное бюджетное общеобразовательное учреждение высшего образования</a:t>
            </a:r>
            <a:br>
              <a:rPr lang="ru-RU" sz="2400" dirty="0"/>
            </a:br>
            <a:r>
              <a:rPr lang="ru-RU" sz="2400" dirty="0"/>
              <a:t>«Курганский государственный Университет»</a:t>
            </a:r>
            <a:br>
              <a:rPr lang="ru-RU" sz="2400" dirty="0"/>
            </a:br>
            <a:r>
              <a:rPr lang="ru-RU" sz="2400" dirty="0"/>
              <a:t>Кафедра «Программное обеспечение автоматизированных систем»</a:t>
            </a:r>
            <a:br>
              <a:rPr lang="ru-RU" sz="1800" dirty="0"/>
            </a:br>
            <a:endParaRPr lang="ru-RU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1E0AAE-F937-4A33-8DE6-CE6D4D4E5F47}"/>
              </a:ext>
            </a:extLst>
          </p:cNvPr>
          <p:cNvSpPr txBox="1"/>
          <p:nvPr/>
        </p:nvSpPr>
        <p:spPr>
          <a:xfrm>
            <a:off x="3047307" y="3000596"/>
            <a:ext cx="6097384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КУРСОВАЯ РАБОТА</a:t>
            </a:r>
            <a:b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 тему:</a:t>
            </a:r>
            <a:b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“</a:t>
            </a:r>
            <a:r>
              <a:rPr lang="ru-RU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Платежный агрегатор</a:t>
            </a:r>
            <a:r>
              <a:rPr lang="ru-RU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”</a:t>
            </a:r>
            <a:endParaRPr lang="ru-RU" sz="2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0A0A7-5113-48FF-B0FA-02B393E0ACD8}"/>
              </a:ext>
            </a:extLst>
          </p:cNvPr>
          <p:cNvSpPr txBox="1"/>
          <p:nvPr/>
        </p:nvSpPr>
        <p:spPr>
          <a:xfrm>
            <a:off x="7121235" y="4979411"/>
            <a:ext cx="44715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Выполнил: Чернов С.Ю.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Группы: ИТ-0930222</a:t>
            </a:r>
            <a:br>
              <a:rPr lang="ru-RU" sz="24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1"/>
                </a:solidFill>
              </a:rPr>
              <a:t>Руководитель: Человечкова А.В.</a:t>
            </a:r>
          </a:p>
        </p:txBody>
      </p:sp>
    </p:spTree>
    <p:extLst>
      <p:ext uri="{BB962C8B-B14F-4D97-AF65-F5344CB8AC3E}">
        <p14:creationId xmlns:p14="http://schemas.microsoft.com/office/powerpoint/2010/main" val="2660042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691BDB-0252-4D33-8CFD-46A3006DE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Постановка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5EC664-57F1-46CF-87C2-A50E63872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Развивающиеся компании часто используют разрозненные интеграции с платёжными провайдерами в каждом продукте. Это приводит к:</a:t>
            </a:r>
          </a:p>
          <a:p>
            <a:pPr algn="just"/>
            <a:r>
              <a:rPr lang="ru-RU" sz="2400" dirty="0"/>
              <a:t>дублированию кода;</a:t>
            </a:r>
          </a:p>
          <a:p>
            <a:pPr algn="just"/>
            <a:r>
              <a:rPr lang="ru-RU" sz="2400" dirty="0"/>
              <a:t>усложнению сопровождения;</a:t>
            </a:r>
          </a:p>
          <a:p>
            <a:pPr algn="just"/>
            <a:r>
              <a:rPr lang="ru-RU" sz="2400" dirty="0"/>
              <a:t>снижению надёжности и безопасности;</a:t>
            </a:r>
          </a:p>
          <a:p>
            <a:pPr algn="just"/>
            <a:r>
              <a:rPr lang="ru-RU" sz="2400" dirty="0"/>
              <a:t>невозможности быстро подключать новые платёжные методы.</a:t>
            </a:r>
          </a:p>
        </p:txBody>
      </p:sp>
    </p:spTree>
    <p:extLst>
      <p:ext uri="{BB962C8B-B14F-4D97-AF65-F5344CB8AC3E}">
        <p14:creationId xmlns:p14="http://schemas.microsoft.com/office/powerpoint/2010/main" val="2668703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1463F1-FE15-4B77-9CA2-1FBE54EB5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Актуальность 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BEC424-AA12-4D26-8C00-67741B097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/>
              <a:t>В условиях стремительного роста числа онлайн-платежей и расширения использования российских платёжных систем (СБП, эквайринги, цифровые кошельки) компании возникает острая потребность в надёжной, унифицированной и безопасной инфраструктуре для приёма платежей.</a:t>
            </a:r>
          </a:p>
        </p:txBody>
      </p:sp>
    </p:spTree>
    <p:extLst>
      <p:ext uri="{BB962C8B-B14F-4D97-AF65-F5344CB8AC3E}">
        <p14:creationId xmlns:p14="http://schemas.microsoft.com/office/powerpoint/2010/main" val="480404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83802-CD9D-474F-8CF7-8F0F0D837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Цель, объект и предмет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1C4027-D306-4EB1-AE47-979A68327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774" y="2061556"/>
            <a:ext cx="11530452" cy="479644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b="1" dirty="0"/>
              <a:t>Цель</a:t>
            </a:r>
            <a:r>
              <a:rPr lang="ru-RU" sz="2400" dirty="0"/>
              <a:t> – проектирование и разработка платежного агрегатора, предназначенного для внутреннего использования в компании и обеспечивающего унифицированный и отказоустойчивый прием платежей.</a:t>
            </a:r>
          </a:p>
          <a:p>
            <a:pPr marL="0" indent="0" algn="just">
              <a:buNone/>
            </a:pPr>
            <a:r>
              <a:rPr lang="ru-RU" sz="2400" b="1" dirty="0"/>
              <a:t>Объект исследования </a:t>
            </a:r>
            <a:r>
              <a:rPr lang="ru-RU" sz="2400" dirty="0"/>
              <a:t>– процессы приёма и обработки онлайн-платежей.</a:t>
            </a:r>
          </a:p>
          <a:p>
            <a:pPr marL="0" indent="0" algn="just">
              <a:buNone/>
            </a:pPr>
            <a:r>
              <a:rPr lang="ru-RU" sz="2400" b="1" dirty="0"/>
              <a:t>Предмет исследования </a:t>
            </a:r>
            <a:r>
              <a:rPr lang="ru-RU" sz="2400" dirty="0"/>
              <a:t>– процессы управления жизненным циклом онлайн-платежей через платежные системы РФ.</a:t>
            </a:r>
          </a:p>
          <a:p>
            <a:pPr marL="0" indent="0" algn="just">
              <a:buNone/>
            </a:pPr>
            <a:r>
              <a:rPr lang="ru-RU" sz="2400" dirty="0"/>
              <a:t>Для достижения цели были поставлены следующие </a:t>
            </a:r>
            <a:r>
              <a:rPr lang="ru-RU" sz="2400" b="1" dirty="0"/>
              <a:t>задачи:</a:t>
            </a:r>
          </a:p>
          <a:p>
            <a:pPr marL="0" indent="0" algn="just">
              <a:buNone/>
            </a:pPr>
            <a:r>
              <a:rPr lang="ru-RU" sz="2400" dirty="0"/>
              <a:t>1.	Проанализировать существующие решения и выявить их недостатки.</a:t>
            </a:r>
          </a:p>
          <a:p>
            <a:pPr marL="0" indent="0" algn="just">
              <a:buNone/>
            </a:pPr>
            <a:r>
              <a:rPr lang="ru-RU" sz="2400" dirty="0"/>
              <a:t>2.	Разработать архитектуру программной системы с последующей реализацией.</a:t>
            </a:r>
          </a:p>
          <a:p>
            <a:pPr marL="0" indent="0" algn="just">
              <a:buNone/>
            </a:pPr>
            <a:r>
              <a:rPr lang="ru-RU" sz="2400" dirty="0"/>
              <a:t>3.	Протестировать функциональность и подготовить техническую документацию.</a:t>
            </a:r>
          </a:p>
          <a:p>
            <a:pPr marL="0" indent="0" algn="just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55732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C7F288-5515-4177-A041-073317411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ОБЗОР Существующих решений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1CBDB0D-5737-4962-9D50-7DFAC486E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32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DBA3AE4E-DEE7-41FC-8B66-A33B23B1E8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585165"/>
              </p:ext>
            </p:extLst>
          </p:nvPr>
        </p:nvGraphicFramePr>
        <p:xfrm>
          <a:off x="581025" y="772421"/>
          <a:ext cx="11029950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350">
                  <a:extLst>
                    <a:ext uri="{9D8B030D-6E8A-4147-A177-3AD203B41FA5}">
                      <a16:colId xmlns:a16="http://schemas.microsoft.com/office/drawing/2014/main" val="1114401840"/>
                    </a:ext>
                  </a:extLst>
                </a:gridCol>
                <a:gridCol w="2723630">
                  <a:extLst>
                    <a:ext uri="{9D8B030D-6E8A-4147-A177-3AD203B41FA5}">
                      <a16:colId xmlns:a16="http://schemas.microsoft.com/office/drawing/2014/main" val="3762738252"/>
                    </a:ext>
                  </a:extLst>
                </a:gridCol>
                <a:gridCol w="3053548">
                  <a:extLst>
                    <a:ext uri="{9D8B030D-6E8A-4147-A177-3AD203B41FA5}">
                      <a16:colId xmlns:a16="http://schemas.microsoft.com/office/drawing/2014/main" val="2703634180"/>
                    </a:ext>
                  </a:extLst>
                </a:gridCol>
                <a:gridCol w="1837113">
                  <a:extLst>
                    <a:ext uri="{9D8B030D-6E8A-4147-A177-3AD203B41FA5}">
                      <a16:colId xmlns:a16="http://schemas.microsoft.com/office/drawing/2014/main" val="2249317618"/>
                    </a:ext>
                  </a:extLst>
                </a:gridCol>
                <a:gridCol w="1727309">
                  <a:extLst>
                    <a:ext uri="{9D8B030D-6E8A-4147-A177-3AD203B41FA5}">
                      <a16:colId xmlns:a16="http://schemas.microsoft.com/office/drawing/2014/main" val="30889592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Платформа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Преимущества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Недостатки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Открытый исходный 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dirty="0"/>
                        <a:t>Ценовая политика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576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err="1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CloudPayments</a:t>
                      </a:r>
                      <a:endParaRPr lang="ru-RU" sz="1800" dirty="0">
                        <a:effectLst/>
                        <a:latin typeface="Corbel" panose="020B05030202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Поддержка кошельков </a:t>
                      </a:r>
                      <a:r>
                        <a:rPr lang="en-US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Google Pay </a:t>
                      </a:r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 </a:t>
                      </a:r>
                      <a:r>
                        <a:rPr lang="en-US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Apple Pay</a:t>
                      </a:r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Поддержка 3</a:t>
                      </a:r>
                      <a:r>
                        <a:rPr lang="en-US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DS</a:t>
                      </a:r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и </a:t>
                      </a:r>
                      <a:r>
                        <a:rPr lang="ru-RU" sz="1800" dirty="0" err="1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вебхуков</a:t>
                      </a:r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 прямой интеграции с некоторыми банками, например Точка Банк.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Комиссия 2% с каждой транзакции.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8045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Kill Bill</a:t>
                      </a:r>
                      <a:endParaRPr lang="ru-RU" sz="1800" dirty="0">
                        <a:effectLst/>
                        <a:latin typeface="Corbel" panose="020B05030202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Модульность, расширяемость.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Сложная архитектура, нет встроенной поддержки банков и платежных систем РФ, требует глубокой настройки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Бесплатно.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5672185"/>
                  </a:ext>
                </a:extLst>
              </a:tr>
              <a:tr h="174106"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Ю</a:t>
                      </a:r>
                      <a:r>
                        <a:rPr lang="en-US" sz="1800" dirty="0" err="1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kassa</a:t>
                      </a:r>
                      <a:endParaRPr lang="ru-RU" sz="1800" dirty="0">
                        <a:effectLst/>
                        <a:latin typeface="Corbel" panose="020B05030202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Удобное </a:t>
                      </a:r>
                      <a:r>
                        <a:rPr lang="en-US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поддержка фискализации и множества провайдеров.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Отсутствие расширяемости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Комиссия 3-5% в зависимости от выбранного провайдера и суммы транзакции.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6014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 err="1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Saleor</a:t>
                      </a:r>
                      <a:endParaRPr lang="ru-RU" sz="1800" dirty="0">
                        <a:effectLst/>
                        <a:latin typeface="Corbel" panose="020B05030202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Модульность, расширяемость.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E-commerce </a:t>
                      </a:r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платформа. Привязка ко всему продукту. Избыточность функционала.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800" dirty="0">
                          <a:effectLst/>
                          <a:latin typeface="Corbel" panose="020B05030202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Бесплатно.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0585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763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BBB5B-74FB-458A-B0F5-57FFF1BA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Функциональные 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F589AE-CDE6-482D-9785-FA443FCE8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451375" cy="4220304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arenR"/>
            </a:pPr>
            <a:r>
              <a:rPr lang="ru-RU" sz="2400" dirty="0"/>
              <a:t>Поддержка полного цикла проведения онлайн-платежей</a:t>
            </a:r>
          </a:p>
          <a:p>
            <a:pPr marL="342900" indent="-342900">
              <a:buFont typeface="+mj-lt"/>
              <a:buAutoNum type="arabicParenR"/>
            </a:pPr>
            <a:r>
              <a:rPr lang="ru-RU" sz="2400" dirty="0"/>
              <a:t>Поддержка одностадийных и двухстадийных платежей</a:t>
            </a:r>
          </a:p>
          <a:p>
            <a:pPr marL="342900" indent="-342900">
              <a:buFont typeface="+mj-lt"/>
              <a:buAutoNum type="arabicParenR"/>
            </a:pPr>
            <a:r>
              <a:rPr lang="ru-RU" sz="2400" dirty="0"/>
              <a:t>Проведение платежей по состояниям и обработка ошибок</a:t>
            </a:r>
          </a:p>
          <a:p>
            <a:pPr marL="342900" indent="-342900">
              <a:buFont typeface="+mj-lt"/>
              <a:buAutoNum type="arabicParenR"/>
            </a:pPr>
            <a:r>
              <a:rPr lang="ru-RU" sz="2400" dirty="0"/>
              <a:t>Унификация ответов от платежных провайдеров</a:t>
            </a:r>
          </a:p>
          <a:p>
            <a:pPr marL="342900" indent="-342900">
              <a:buFont typeface="+mj-lt"/>
              <a:buAutoNum type="arabicParenR"/>
            </a:pPr>
            <a:r>
              <a:rPr lang="ru-RU" sz="2400" dirty="0"/>
              <a:t>Унификация протокола взаимодействия</a:t>
            </a:r>
          </a:p>
          <a:p>
            <a:pPr marL="342900" indent="-342900">
              <a:buFont typeface="+mj-lt"/>
              <a:buAutoNum type="arabicParenR"/>
            </a:pPr>
            <a:r>
              <a:rPr lang="ru-RU" sz="2400" dirty="0"/>
              <a:t>Фискализация чеков</a:t>
            </a:r>
          </a:p>
        </p:txBody>
      </p:sp>
      <p:pic>
        <p:nvPicPr>
          <p:cNvPr id="1028" name="Picture 4" descr="How to Create a Project Task List">
            <a:extLst>
              <a:ext uri="{FF2B5EF4-FFF2-40B4-BE49-F238E27FC236}">
                <a16:creationId xmlns:a16="http://schemas.microsoft.com/office/drawing/2014/main" id="{7413B5C7-3E92-454F-A87D-557F3BAAE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467" y="2421255"/>
            <a:ext cx="3797878" cy="3164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806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18C1AC4-CEDC-4A06-B031-DCEFEECCC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Диаграмма вариантов использования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E5A897-3079-4315-8115-83C6302BB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374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5C8B3E-F222-4894-AD4B-364317E36B9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01675"/>
            <a:ext cx="11029950" cy="1014413"/>
          </a:xfrm>
        </p:spPr>
        <p:txBody>
          <a:bodyPr>
            <a:normAutofit/>
          </a:bodyPr>
          <a:lstStyle/>
          <a:p>
            <a:r>
              <a:rPr lang="ru-RU" sz="4000" dirty="0"/>
              <a:t>Диаграмма вариантов использования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00E54A-1C3C-48F0-9805-36FA529535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24247" y="793116"/>
            <a:ext cx="9343506" cy="578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37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B955BC-ACE6-477D-A99A-540891C6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ER-</a:t>
            </a:r>
            <a:r>
              <a:rPr lang="ru-RU" sz="4000" dirty="0"/>
              <a:t>диаграмма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F42E40-4734-419B-9A61-102FB787E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114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8F4064-E889-4063-BAD4-41CC10F40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106" y="826727"/>
            <a:ext cx="9779788" cy="55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760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03775-C9C8-41BE-9A45-DBD216ABA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000" dirty="0"/>
              <a:t>ИТОГИ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83E178-ADAD-433A-BFD5-E11CE5019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/>
              <a:t>Проведён анализ предметной области и существующих решений</a:t>
            </a:r>
          </a:p>
          <a:p>
            <a:r>
              <a:rPr lang="ru-RU" sz="2400" dirty="0"/>
              <a:t>Сформулированы функциональные требования к системе</a:t>
            </a:r>
          </a:p>
          <a:p>
            <a:r>
              <a:rPr lang="ru-RU" sz="2400" dirty="0"/>
              <a:t>Разработана диаграмма вариантов использования и определены роли в системе</a:t>
            </a:r>
          </a:p>
          <a:p>
            <a:r>
              <a:rPr lang="ru-RU" sz="2400" dirty="0"/>
              <a:t>Разработана архитектура и спроектирована база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5292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9E9268-1DD8-477E-AB4A-99063A89D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4800" dirty="0"/>
              <a:t>Спасибо за внимание!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42F2DF06-B429-4710-BBA5-5491C8080F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524493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">
  <a:themeElements>
    <a:clrScheme name="Дивиденд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Дивиденд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Дивиденд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TM03457464[[fn=Дивиденд]]</Template>
  <TotalTime>127</TotalTime>
  <Words>407</Words>
  <Application>Microsoft Office PowerPoint</Application>
  <PresentationFormat>Широкоэкранный</PresentationFormat>
  <Paragraphs>61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Corbel</vt:lpstr>
      <vt:lpstr>Gill Sans MT</vt:lpstr>
      <vt:lpstr>Times New Roman</vt:lpstr>
      <vt:lpstr>Wingdings 2</vt:lpstr>
      <vt:lpstr>Дивиденд</vt:lpstr>
      <vt:lpstr>МИНИСТЕРСТВО НАУКИ И ВЫСШЕГО ОБРАЗОВАНИЯ РОССИЙСКОЙ ФЕДЕРАЦИИ федеральное государственное бюджетное общеобразовательное учреждение высшего образования «Курганский государственный Университет» Кафедра «Программное обеспечение автоматизированных систем» </vt:lpstr>
      <vt:lpstr>Постановка проблемы</vt:lpstr>
      <vt:lpstr>Актуальность темы</vt:lpstr>
      <vt:lpstr>Цель, объект и предмет исследования</vt:lpstr>
      <vt:lpstr>ОБЗОР Существующих решений</vt:lpstr>
      <vt:lpstr>Презентация PowerPoint</vt:lpstr>
      <vt:lpstr>Функциональные требования</vt:lpstr>
      <vt:lpstr>Диаграмма вариантов использования</vt:lpstr>
      <vt:lpstr>Диаграмма вариантов использования</vt:lpstr>
      <vt:lpstr>ER-диаграмма</vt:lpstr>
      <vt:lpstr>Презентация PowerPoint</vt:lpstr>
      <vt:lpstr>ИТОГИ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МИНИСТЕРСТВО НАУКИ И ВЫСШЕГО ОБРАЗОВАНИЯ РОССИЙСКОЙ ФЕДЕРАЦИИ федеральное государственное бюджетное общеобразовательное учреждение высшего образования «Курганский государственный Университет» Кафедра «Программное обеспечение автоматизированных систем» </dc:title>
  <dc:creator>Степан Чернов</dc:creator>
  <cp:lastModifiedBy>Степан Чернов</cp:lastModifiedBy>
  <cp:revision>9</cp:revision>
  <dcterms:created xsi:type="dcterms:W3CDTF">2025-12-17T17:04:57Z</dcterms:created>
  <dcterms:modified xsi:type="dcterms:W3CDTF">2025-12-17T19:12:11Z</dcterms:modified>
</cp:coreProperties>
</file>